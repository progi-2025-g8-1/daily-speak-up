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6858000" cy="9144000"/>
  <p:embeddedFontLst>
    <p:embeddedFont>
      <p:font typeface="Century Gothic" panose="020B0604020202020204" charset="0"/>
      <p:regular r:id="rId18"/>
      <p:bold r:id="rId19"/>
      <p:italic r:id="rId20"/>
      <p:boldItalic r:id="rId21"/>
    </p:embeddedFont>
    <p:embeddedFont>
      <p:font typeface="Franklin Gothic" panose="020B0604020202020204" charset="0"/>
      <p:bold r:id="rId22"/>
    </p:embeddedFont>
    <p:embeddedFont>
      <p:font typeface="Libre Franklin" panose="020B0604020202020204" charset="0"/>
      <p:regular r:id="rId23"/>
      <p:bold r:id="rId24"/>
      <p:italic r:id="rId25"/>
      <p:boldItalic r:id="rId26"/>
    </p:embeddedFont>
    <p:embeddedFont>
      <p:font typeface="Libre Franklin Medium" panose="020B0604020202020204" charset="0"/>
      <p:regular r:id="rId27"/>
      <p:bold r:id="rId28"/>
      <p:italic r:id="rId29"/>
      <p:boldItalic r:id="rId30"/>
    </p:embeddedFont>
    <p:embeddedFont>
      <p:font typeface="Tahoma" panose="020B0604030504040204" pitchFamily="34" charset="0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041EC7-3146-67A4-B8D9-04EE5BE6976A}" v="18" dt="2026-01-23T13:14:40.553"/>
    <p1510:client id="{E05BA5D3-3B06-572D-A906-B901B273B8F6}" v="3" dt="2026-01-23T13:16:32.7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620"/>
        <p:guide pos="288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 Popović" userId="S::ep55931@fer.hr::33e3d70f-b863-485f-818f-2c4cd389a9af" providerId="AD" clId="Web-{D5041EC7-3146-67A4-B8D9-04EE5BE6976A}"/>
    <pc:docChg chg="modSld">
      <pc:chgData name="Emil Popović" userId="S::ep55931@fer.hr::33e3d70f-b863-485f-818f-2c4cd389a9af" providerId="AD" clId="Web-{D5041EC7-3146-67A4-B8D9-04EE5BE6976A}" dt="2026-01-23T13:14:40.553" v="16"/>
      <pc:docMkLst>
        <pc:docMk/>
      </pc:docMkLst>
      <pc:sldChg chg="addSp delSp modSp">
        <pc:chgData name="Emil Popović" userId="S::ep55931@fer.hr::33e3d70f-b863-485f-818f-2c4cd389a9af" providerId="AD" clId="Web-{D5041EC7-3146-67A4-B8D9-04EE5BE6976A}" dt="2026-01-23T13:14:40.553" v="16"/>
        <pc:sldMkLst>
          <pc:docMk/>
          <pc:sldMk cId="0" sldId="263"/>
        </pc:sldMkLst>
        <pc:picChg chg="add del mod">
          <ac:chgData name="Emil Popović" userId="S::ep55931@fer.hr::33e3d70f-b863-485f-818f-2c4cd389a9af" providerId="AD" clId="Web-{D5041EC7-3146-67A4-B8D9-04EE5BE6976A}" dt="2026-01-23T13:13:23.926" v="12"/>
          <ac:picMkLst>
            <pc:docMk/>
            <pc:sldMk cId="0" sldId="263"/>
            <ac:picMk id="2" creationId="{F50F392B-05F8-A31F-1F12-3F0A3FF2B046}"/>
          </ac:picMkLst>
        </pc:picChg>
        <pc:picChg chg="add del mod">
          <ac:chgData name="Emil Popović" userId="S::ep55931@fer.hr::33e3d70f-b863-485f-818f-2c4cd389a9af" providerId="AD" clId="Web-{D5041EC7-3146-67A4-B8D9-04EE5BE6976A}" dt="2026-01-23T13:14:40.553" v="16"/>
          <ac:picMkLst>
            <pc:docMk/>
            <pc:sldMk cId="0" sldId="263"/>
            <ac:picMk id="3" creationId="{C8A49E87-4388-0A8D-1EBE-B0531F08DEFE}"/>
          </ac:picMkLst>
        </pc:picChg>
        <pc:picChg chg="del">
          <ac:chgData name="Emil Popović" userId="S::ep55931@fer.hr::33e3d70f-b863-485f-818f-2c4cd389a9af" providerId="AD" clId="Web-{D5041EC7-3146-67A4-B8D9-04EE5BE6976A}" dt="2026-01-23T13:11:13.250" v="0"/>
          <ac:picMkLst>
            <pc:docMk/>
            <pc:sldMk cId="0" sldId="263"/>
            <ac:picMk id="239" creationId="{00000000-0000-0000-0000-000000000000}"/>
          </ac:picMkLst>
        </pc:picChg>
      </pc:sldChg>
    </pc:docChg>
  </pc:docChgLst>
  <pc:docChgLst>
    <pc:chgData name="Emil Popović" userId="S::ep55931@fer.hr::33e3d70f-b863-485f-818f-2c4cd389a9af" providerId="AD" clId="Web-{E05BA5D3-3B06-572D-A906-B901B273B8F6}"/>
    <pc:docChg chg="modSld">
      <pc:chgData name="Emil Popović" userId="S::ep55931@fer.hr::33e3d70f-b863-485f-818f-2c4cd389a9af" providerId="AD" clId="Web-{E05BA5D3-3B06-572D-A906-B901B273B8F6}" dt="2026-01-23T13:16:32.735" v="1" actId="14100"/>
      <pc:docMkLst>
        <pc:docMk/>
      </pc:docMkLst>
      <pc:sldChg chg="addSp modSp">
        <pc:chgData name="Emil Popović" userId="S::ep55931@fer.hr::33e3d70f-b863-485f-818f-2c4cd389a9af" providerId="AD" clId="Web-{E05BA5D3-3B06-572D-A906-B901B273B8F6}" dt="2026-01-23T13:16:32.735" v="1" actId="14100"/>
        <pc:sldMkLst>
          <pc:docMk/>
          <pc:sldMk cId="0" sldId="263"/>
        </pc:sldMkLst>
        <pc:picChg chg="add mod">
          <ac:chgData name="Emil Popović" userId="S::ep55931@fer.hr::33e3d70f-b863-485f-818f-2c4cd389a9af" providerId="AD" clId="Web-{E05BA5D3-3B06-572D-A906-B901B273B8F6}" dt="2026-01-23T13:16:32.735" v="1" actId="14100"/>
          <ac:picMkLst>
            <pc:docMk/>
            <pc:sldMk cId="0" sldId="263"/>
            <ac:picMk id="2" creationId="{EEC77B70-1E24-8F3A-AEDE-92C918D7301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6cc42b781_2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9" name="Google Shape;179;g3b6cc42b781_2_1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g3b6cc42b781_2_1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b6cc42b781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g3b6cc42b781_2_1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g3b6cc42b781_2_1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b6cc42b781_2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4" name="Google Shape;194;g3b6cc42b781_2_1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list no need to elaborate in this stage!</a:t>
            </a:r>
            <a:endParaRPr/>
          </a:p>
        </p:txBody>
      </p:sp>
      <p:sp>
        <p:nvSpPr>
          <p:cNvPr id="195" name="Google Shape;195;g3b6cc42b781_2_1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b6cc42b781_2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" name="Google Shape;202;g3b6cc42b781_2_1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Navedite samo svoju viziju projektne ideje...</a:t>
            </a:r>
            <a:endParaRPr/>
          </a:p>
        </p:txBody>
      </p:sp>
      <p:sp>
        <p:nvSpPr>
          <p:cNvPr id="203" name="Google Shape;203;g3b6cc42b781_2_1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b6cc42b78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b6cc42b78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6cc42b781_2_1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3b6cc42b781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b6cc42b781_2_16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g3b6cc42b781_2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b6cc42b781_2_17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b6cc42b781_2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b6cc42b781_2_17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-organizacija ispitivanja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-fokus ispitivanja, potpunost</a:t>
            </a:r>
            <a:endParaRPr/>
          </a:p>
        </p:txBody>
      </p:sp>
      <p:sp>
        <p:nvSpPr>
          <p:cNvPr id="242" name="Google Shape;242;g3b6cc42b781_2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b6cc42b781_2_1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3b6cc42b781_2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b6cc42b781_2_1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 usmenom izlaganju samo diskutirajte o glavnim problemima rasporeda i svom iskustvu za njihovo rješavanje (npr. preuzimanje zadataka drugih članova ...)</a:t>
            </a:r>
            <a:endParaRPr/>
          </a:p>
        </p:txBody>
      </p:sp>
      <p:sp>
        <p:nvSpPr>
          <p:cNvPr id="256" name="Google Shape;256;g3b6cc42b781_2_1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b98798cc4e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b98798cc4e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b6cc42b781_2_1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66700" lvl="0" indent="-2667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208"/>
              <a:buFont typeface="Noto Sans Symbols"/>
              <a:buChar char="◼"/>
            </a:pPr>
            <a:r>
              <a:rPr lang="en" sz="24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Pokazati ključne funkcionalnosti uživo.</a:t>
            </a:r>
            <a:endParaRPr sz="24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266700" lvl="0" indent="-2667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Clr>
                <a:srgbClr val="1CADE4"/>
              </a:buClr>
              <a:buSzPts val="2208"/>
              <a:buFont typeface="Noto Sans Symbols"/>
              <a:buChar char="◼"/>
            </a:pPr>
            <a:r>
              <a:rPr lang="en" sz="24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Fokus na izazove i rješenja (1-2 primjera).</a:t>
            </a:r>
            <a:endParaRPr sz="24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g3b6cc42b781_2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b6cc42b781_2_20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3b6cc42b781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/>
          <p:nvPr/>
        </p:nvSpPr>
        <p:spPr>
          <a:xfrm>
            <a:off x="13527" y="-3288"/>
            <a:ext cx="9144000" cy="7429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50875" tIns="25000" rIns="50875" bIns="2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5"/>
              <a:buFont typeface="Libre Franklin"/>
              <a:buNone/>
            </a:pPr>
            <a:endParaRPr sz="1125" b="1" i="0" u="none" strike="noStrike" cap="none">
              <a:solidFill>
                <a:schemeClr val="dk1"/>
              </a:solidFill>
              <a:latin typeface="Libre Franklin Medium"/>
              <a:ea typeface="Libre Franklin Medium"/>
              <a:cs typeface="Libre Franklin Medium"/>
              <a:sym typeface="Libre Franklin Medium"/>
            </a:endParaRPr>
          </a:p>
        </p:txBody>
      </p:sp>
      <p:sp>
        <p:nvSpPr>
          <p:cNvPr id="62" name="Google Shape;62;p14"/>
          <p:cNvSpPr txBox="1">
            <a:spLocks noGrp="1"/>
          </p:cNvSpPr>
          <p:nvPr>
            <p:ph type="ctrTitle"/>
          </p:nvPr>
        </p:nvSpPr>
        <p:spPr>
          <a:xfrm>
            <a:off x="462947" y="2814007"/>
            <a:ext cx="8245162" cy="1106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  <a:defRPr sz="2800"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subTitle" idx="1"/>
          </p:nvPr>
        </p:nvSpPr>
        <p:spPr>
          <a:xfrm>
            <a:off x="462949" y="3920267"/>
            <a:ext cx="8245160" cy="442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104"/>
              <a:buNone/>
              <a:defRPr sz="1200" cap="none">
                <a:solidFill>
                  <a:schemeClr val="dk1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SzPts val="184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2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38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38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38"/>
              </a:spcBef>
              <a:spcAft>
                <a:spcPts val="0"/>
              </a:spcAft>
              <a:buSzPts val="62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38"/>
              </a:spcBef>
              <a:spcAft>
                <a:spcPts val="0"/>
              </a:spcAft>
              <a:buSzPts val="62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38"/>
              </a:spcBef>
              <a:spcAft>
                <a:spcPts val="0"/>
              </a:spcAft>
              <a:buSzPts val="62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38"/>
              </a:spcBef>
              <a:spcAft>
                <a:spcPts val="338"/>
              </a:spcAft>
              <a:buSzPts val="62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7" name="Google Shape;67;p14"/>
          <p:cNvPicPr preferRelativeResize="0"/>
          <p:nvPr/>
        </p:nvPicPr>
        <p:blipFill rotWithShape="1">
          <a:blip r:embed="rId2">
            <a:alphaModFix/>
          </a:blip>
          <a:srcRect l="40606" t="17629" r="15252" b="19248"/>
          <a:stretch/>
        </p:blipFill>
        <p:spPr>
          <a:xfrm>
            <a:off x="6770836" y="196946"/>
            <a:ext cx="727345" cy="5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descr="A close up of a logo&#10;&#10;Description automatically generated"/>
          <p:cNvPicPr preferRelativeResize="0"/>
          <p:nvPr/>
        </p:nvPicPr>
        <p:blipFill rotWithShape="1">
          <a:blip r:embed="rId3">
            <a:alphaModFix amt="79000"/>
          </a:blip>
          <a:srcRect l="13473" t="23715" r="15700" b="21450"/>
          <a:stretch/>
        </p:blipFill>
        <p:spPr>
          <a:xfrm>
            <a:off x="7629063" y="259031"/>
            <a:ext cx="1188000" cy="43680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 txBox="1"/>
          <p:nvPr/>
        </p:nvSpPr>
        <p:spPr>
          <a:xfrm>
            <a:off x="6309966" y="1752595"/>
            <a:ext cx="2398143" cy="421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10000"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small">
                <a:solidFill>
                  <a:srgbClr val="36363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Programsko inženjerstvo</a:t>
            </a:r>
            <a:endParaRPr/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0" u="none" strike="noStrike" cap="small">
                <a:solidFill>
                  <a:srgbClr val="363636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ID 183400</a:t>
            </a:r>
            <a:endParaRPr sz="1200" b="0" i="0" u="none" strike="noStrike" cap="none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70" name="Google Shape;70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7970" y="0"/>
            <a:ext cx="2403159" cy="2080563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4"/>
          <p:cNvSpPr txBox="1"/>
          <p:nvPr/>
        </p:nvSpPr>
        <p:spPr>
          <a:xfrm>
            <a:off x="2757249" y="2450156"/>
            <a:ext cx="3370236" cy="300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0" i="0" u="none" strike="noStrike" cap="none">
                <a:solidFill>
                  <a:srgbClr val="3F3F3F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PREZENTACIJA</a:t>
            </a:r>
            <a:r>
              <a:rPr lang="en" sz="2000" b="0" i="0" u="none" strike="noStrike" cap="none">
                <a:solidFill>
                  <a:schemeClr val="dk1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 </a:t>
            </a:r>
            <a:r>
              <a:rPr lang="en" sz="2000" b="0" i="0" u="none" strike="noStrike" cap="none">
                <a:solidFill>
                  <a:srgbClr val="3F3F3F"/>
                </a:solidFill>
                <a:latin typeface="Franklin Gothic"/>
                <a:ea typeface="Franklin Gothic"/>
                <a:cs typeface="Franklin Gothic"/>
                <a:sym typeface="Franklin Gothic"/>
              </a:rPr>
              <a:t>PROJEKTA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  <a:defRPr sz="2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body" idx="1"/>
          </p:nvPr>
        </p:nvSpPr>
        <p:spPr>
          <a:xfrm>
            <a:off x="71999" y="729000"/>
            <a:ext cx="90000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808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2208"/>
              <a:buChar char="◼"/>
              <a:defRPr>
                <a:solidFill>
                  <a:schemeClr val="dk1"/>
                </a:solidFill>
              </a:defRPr>
            </a:lvl1pPr>
            <a:lvl2pPr marL="914400" lvl="1" indent="-345440" algn="l"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lvl="2" indent="-322072" algn="l">
              <a:spcBef>
                <a:spcPts val="320"/>
              </a:spcBef>
              <a:spcAft>
                <a:spcPts val="0"/>
              </a:spcAft>
              <a:buSzPts val="1472"/>
              <a:buChar char="◼"/>
              <a:defRPr>
                <a:solidFill>
                  <a:schemeClr val="dk1"/>
                </a:solidFill>
              </a:defRPr>
            </a:lvl3pPr>
            <a:lvl4pPr marL="1828800" lvl="3" indent="-310388" algn="l">
              <a:spcBef>
                <a:spcPts val="338"/>
              </a:spcBef>
              <a:spcAft>
                <a:spcPts val="0"/>
              </a:spcAft>
              <a:buSzPts val="1288"/>
              <a:buChar char="◼"/>
              <a:defRPr>
                <a:solidFill>
                  <a:schemeClr val="dk1"/>
                </a:solidFill>
              </a:defRPr>
            </a:lvl4pPr>
            <a:lvl5pPr marL="2286000" lvl="4" indent="-310388" algn="l">
              <a:spcBef>
                <a:spcPts val="338"/>
              </a:spcBef>
              <a:spcAft>
                <a:spcPts val="0"/>
              </a:spcAft>
              <a:buSzPts val="1288"/>
              <a:buChar char="◼"/>
              <a:defRPr>
                <a:solidFill>
                  <a:schemeClr val="dk1"/>
                </a:solidFill>
              </a:defRPr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>
            <a:spLocks noGrp="1"/>
          </p:cNvSpPr>
          <p:nvPr>
            <p:ph type="title"/>
          </p:nvPr>
        </p:nvSpPr>
        <p:spPr>
          <a:xfrm>
            <a:off x="435896" y="1795465"/>
            <a:ext cx="8272211" cy="161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  <a:defRPr sz="2800" b="0" cap="none"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1"/>
          </p:nvPr>
        </p:nvSpPr>
        <p:spPr>
          <a:xfrm>
            <a:off x="435896" y="3406063"/>
            <a:ext cx="8272211" cy="450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288"/>
              <a:buNone/>
              <a:defRPr sz="1400" cap="none">
                <a:solidFill>
                  <a:schemeClr val="accent1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932"/>
              <a:buNone/>
              <a:defRPr sz="1013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SzPts val="828"/>
              <a:buNone/>
              <a:defRPr sz="9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38"/>
              </a:spcBef>
              <a:spcAft>
                <a:spcPts val="0"/>
              </a:spcAft>
              <a:buSzPts val="725"/>
              <a:buNone/>
              <a:defRPr sz="78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38"/>
              </a:spcBef>
              <a:spcAft>
                <a:spcPts val="0"/>
              </a:spcAft>
              <a:buSzPts val="725"/>
              <a:buNone/>
              <a:defRPr sz="78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38"/>
              </a:spcBef>
              <a:spcAft>
                <a:spcPts val="0"/>
              </a:spcAft>
              <a:buSzPts val="725"/>
              <a:buNone/>
              <a:defRPr sz="78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338"/>
              </a:spcBef>
              <a:spcAft>
                <a:spcPts val="0"/>
              </a:spcAft>
              <a:buSzPts val="725"/>
              <a:buNone/>
              <a:defRPr sz="78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338"/>
              </a:spcBef>
              <a:spcAft>
                <a:spcPts val="0"/>
              </a:spcAft>
              <a:buSzPts val="725"/>
              <a:buNone/>
              <a:defRPr sz="78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338"/>
              </a:spcBef>
              <a:spcAft>
                <a:spcPts val="338"/>
              </a:spcAft>
              <a:buSzPts val="725"/>
              <a:buNone/>
              <a:defRPr sz="78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828000" y="27000"/>
            <a:ext cx="79200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71999" y="729000"/>
            <a:ext cx="46800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body" idx="2"/>
          </p:nvPr>
        </p:nvSpPr>
        <p:spPr>
          <a:xfrm>
            <a:off x="4812030" y="729000"/>
            <a:ext cx="4259971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792000" y="-6643"/>
            <a:ext cx="79200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body" idx="1"/>
          </p:nvPr>
        </p:nvSpPr>
        <p:spPr>
          <a:xfrm>
            <a:off x="71998" y="743560"/>
            <a:ext cx="4680000" cy="418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72"/>
              <a:buNone/>
              <a:defRPr sz="1600" b="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035"/>
              <a:buNone/>
              <a:defRPr sz="1125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SzPts val="932"/>
              <a:buNone/>
              <a:defRPr sz="1013" b="1"/>
            </a:lvl3pPr>
            <a:lvl4pPr marL="1828800" lvl="3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4pPr>
            <a:lvl5pPr marL="2286000" lvl="4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5pPr>
            <a:lvl6pPr marL="2743200" lvl="5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6pPr>
            <a:lvl7pPr marL="3200400" lvl="6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7pPr>
            <a:lvl8pPr marL="3657600" lvl="7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8pPr>
            <a:lvl9pPr marL="4114800" lvl="8" indent="-228600" algn="l">
              <a:spcBef>
                <a:spcPts val="338"/>
              </a:spcBef>
              <a:spcAft>
                <a:spcPts val="338"/>
              </a:spcAft>
              <a:buSzPts val="828"/>
              <a:buNone/>
              <a:defRPr sz="900" b="1"/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2"/>
          </p:nvPr>
        </p:nvSpPr>
        <p:spPr>
          <a:xfrm>
            <a:off x="71998" y="1251189"/>
            <a:ext cx="4680000" cy="350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3"/>
          </p:nvPr>
        </p:nvSpPr>
        <p:spPr>
          <a:xfrm>
            <a:off x="4812031" y="743563"/>
            <a:ext cx="4212288" cy="415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472"/>
              <a:buFont typeface="Noto Sans Symbols"/>
              <a:buNone/>
              <a:defRPr sz="1600" b="0">
                <a:solidFill>
                  <a:srgbClr val="3F3F3F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035"/>
              <a:buNone/>
              <a:defRPr sz="1125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SzPts val="932"/>
              <a:buNone/>
              <a:defRPr sz="1013" b="1"/>
            </a:lvl3pPr>
            <a:lvl4pPr marL="1828800" lvl="3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4pPr>
            <a:lvl5pPr marL="2286000" lvl="4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5pPr>
            <a:lvl6pPr marL="2743200" lvl="5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6pPr>
            <a:lvl7pPr marL="3200400" lvl="6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7pPr>
            <a:lvl8pPr marL="3657600" lvl="7" indent="-228600" algn="l">
              <a:spcBef>
                <a:spcPts val="338"/>
              </a:spcBef>
              <a:spcAft>
                <a:spcPts val="0"/>
              </a:spcAft>
              <a:buSzPts val="828"/>
              <a:buNone/>
              <a:defRPr sz="900" b="1"/>
            </a:lvl8pPr>
            <a:lvl9pPr marL="4114800" lvl="8" indent="-228600" algn="l">
              <a:spcBef>
                <a:spcPts val="338"/>
              </a:spcBef>
              <a:spcAft>
                <a:spcPts val="338"/>
              </a:spcAft>
              <a:buSzPts val="828"/>
              <a:buNone/>
              <a:defRPr sz="900" b="1"/>
            </a:lvl9pPr>
          </a:lstStyle>
          <a:p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body" idx="4"/>
          </p:nvPr>
        </p:nvSpPr>
        <p:spPr>
          <a:xfrm>
            <a:off x="4812028" y="1247882"/>
            <a:ext cx="4212288" cy="350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97" name="Google Shape;97;p18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8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792000" y="27000"/>
            <a:ext cx="79200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0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p20"/>
          <p:cNvSpPr/>
          <p:nvPr/>
        </p:nvSpPr>
        <p:spPr>
          <a:xfrm>
            <a:off x="0" y="0"/>
            <a:ext cx="9144000" cy="7429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50875" tIns="25000" rIns="50875" bIns="25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5"/>
              <a:buFont typeface="Libre Franklin"/>
              <a:buNone/>
            </a:pPr>
            <a:endParaRPr sz="1125" b="1" i="0" u="none" strike="noStrike" cap="none">
              <a:solidFill>
                <a:schemeClr val="dk1"/>
              </a:solidFill>
              <a:latin typeface="Libre Franklin Medium"/>
              <a:ea typeface="Libre Franklin Medium"/>
              <a:cs typeface="Libre Franklin Medium"/>
              <a:sym typeface="Libre Franklin Medium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>
            <a:spLocks noGrp="1"/>
          </p:cNvSpPr>
          <p:nvPr>
            <p:ph type="title"/>
          </p:nvPr>
        </p:nvSpPr>
        <p:spPr>
          <a:xfrm>
            <a:off x="575894" y="756618"/>
            <a:ext cx="2273889" cy="1291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Franklin Gothic"/>
              <a:buNone/>
              <a:defRPr sz="1350" b="0"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1"/>
          <p:cNvSpPr txBox="1">
            <a:spLocks noGrp="1"/>
          </p:cNvSpPr>
          <p:nvPr>
            <p:ph type="body" idx="1"/>
          </p:nvPr>
        </p:nvSpPr>
        <p:spPr>
          <a:xfrm>
            <a:off x="3675698" y="756618"/>
            <a:ext cx="4988243" cy="3970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22072" algn="l">
              <a:spcBef>
                <a:spcPts val="4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2pPr>
            <a:lvl3pPr marL="1371600" lvl="2" indent="-310388" algn="l">
              <a:spcBef>
                <a:spcPts val="3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3pPr>
            <a:lvl4pPr marL="1828800" lvl="3" indent="-292861" algn="l">
              <a:spcBef>
                <a:spcPts val="338"/>
              </a:spcBef>
              <a:spcAft>
                <a:spcPts val="0"/>
              </a:spcAft>
              <a:buSzPts val="1012"/>
              <a:buChar char="◼"/>
              <a:defRPr sz="1100">
                <a:solidFill>
                  <a:schemeClr val="dk2"/>
                </a:solidFill>
              </a:defRPr>
            </a:lvl4pPr>
            <a:lvl5pPr marL="2286000" lvl="4" indent="-292861" algn="l">
              <a:spcBef>
                <a:spcPts val="338"/>
              </a:spcBef>
              <a:spcAft>
                <a:spcPts val="0"/>
              </a:spcAft>
              <a:buSzPts val="1012"/>
              <a:buChar char="◼"/>
              <a:defRPr sz="1100">
                <a:solidFill>
                  <a:schemeClr val="dk2"/>
                </a:solidFill>
              </a:defRPr>
            </a:lvl5pPr>
            <a:lvl6pPr marL="2743200" lvl="5" indent="-274634" algn="l">
              <a:spcBef>
                <a:spcPts val="338"/>
              </a:spcBef>
              <a:spcAft>
                <a:spcPts val="0"/>
              </a:spcAft>
              <a:buSzPts val="725"/>
              <a:buChar char="◼"/>
              <a:defRPr sz="788">
                <a:solidFill>
                  <a:schemeClr val="dk2"/>
                </a:solidFill>
              </a:defRPr>
            </a:lvl6pPr>
            <a:lvl7pPr marL="3200400" lvl="6" indent="-274634" algn="l">
              <a:spcBef>
                <a:spcPts val="338"/>
              </a:spcBef>
              <a:spcAft>
                <a:spcPts val="0"/>
              </a:spcAft>
              <a:buSzPts val="725"/>
              <a:buChar char="◼"/>
              <a:defRPr sz="788">
                <a:solidFill>
                  <a:schemeClr val="dk2"/>
                </a:solidFill>
              </a:defRPr>
            </a:lvl7pPr>
            <a:lvl8pPr marL="3657600" lvl="7" indent="-274634" algn="l">
              <a:spcBef>
                <a:spcPts val="338"/>
              </a:spcBef>
              <a:spcAft>
                <a:spcPts val="0"/>
              </a:spcAft>
              <a:buSzPts val="725"/>
              <a:buChar char="◼"/>
              <a:defRPr sz="788">
                <a:solidFill>
                  <a:schemeClr val="dk2"/>
                </a:solidFill>
              </a:defRPr>
            </a:lvl8pPr>
            <a:lvl9pPr marL="4114800" lvl="8" indent="-274634" algn="l">
              <a:spcBef>
                <a:spcPts val="338"/>
              </a:spcBef>
              <a:spcAft>
                <a:spcPts val="338"/>
              </a:spcAft>
              <a:buSzPts val="725"/>
              <a:buChar char="◼"/>
              <a:defRPr sz="788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3" name="Google Shape;113;p21"/>
          <p:cNvSpPr txBox="1">
            <a:spLocks noGrp="1"/>
          </p:cNvSpPr>
          <p:nvPr>
            <p:ph type="body" idx="2"/>
          </p:nvPr>
        </p:nvSpPr>
        <p:spPr>
          <a:xfrm>
            <a:off x="575894" y="2127492"/>
            <a:ext cx="2273889" cy="2599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828"/>
              <a:buNone/>
              <a:defRPr sz="900">
                <a:solidFill>
                  <a:srgbClr val="FFFFFF"/>
                </a:solidFill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569"/>
              <a:buNone/>
              <a:defRPr sz="619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SzPts val="518"/>
              <a:buNone/>
              <a:defRPr sz="563"/>
            </a:lvl3pPr>
            <a:lvl4pPr marL="1828800" lvl="3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4pPr>
            <a:lvl5pPr marL="2286000" lvl="4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5pPr>
            <a:lvl6pPr marL="2743200" lvl="5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6pPr>
            <a:lvl7pPr marL="3200400" lvl="6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7pPr>
            <a:lvl8pPr marL="3657600" lvl="7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8pPr>
            <a:lvl9pPr marL="4114800" lvl="8" indent="-228600" algn="l">
              <a:spcBef>
                <a:spcPts val="338"/>
              </a:spcBef>
              <a:spcAft>
                <a:spcPts val="338"/>
              </a:spcAft>
              <a:buSzPts val="466"/>
              <a:buNone/>
              <a:defRPr sz="506"/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dt" idx="10"/>
          </p:nvPr>
        </p:nvSpPr>
        <p:spPr>
          <a:xfrm>
            <a:off x="5704465" y="4842689"/>
            <a:ext cx="2133599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ftr" idx="11"/>
          </p:nvPr>
        </p:nvSpPr>
        <p:spPr>
          <a:xfrm>
            <a:off x="787231" y="4839445"/>
            <a:ext cx="4836571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sldNum" idx="12"/>
          </p:nvPr>
        </p:nvSpPr>
        <p:spPr>
          <a:xfrm>
            <a:off x="7918726" y="4842689"/>
            <a:ext cx="789383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2"/>
          <p:cNvSpPr txBox="1">
            <a:spLocks noGrp="1"/>
          </p:cNvSpPr>
          <p:nvPr>
            <p:ph type="title"/>
          </p:nvPr>
        </p:nvSpPr>
        <p:spPr>
          <a:xfrm>
            <a:off x="435895" y="3520042"/>
            <a:ext cx="8272212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350"/>
              <a:buFont typeface="Franklin Gothic"/>
              <a:buNone/>
              <a:defRPr sz="1350" b="0">
                <a:solidFill>
                  <a:srgbClr val="3F3F3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2"/>
          <p:cNvSpPr>
            <a:spLocks noGrp="1"/>
          </p:cNvSpPr>
          <p:nvPr>
            <p:ph type="pic" idx="2"/>
          </p:nvPr>
        </p:nvSpPr>
        <p:spPr>
          <a:xfrm>
            <a:off x="337929" y="781606"/>
            <a:ext cx="8468144" cy="2614208"/>
          </a:xfrm>
          <a:prstGeom prst="rect">
            <a:avLst/>
          </a:prstGeom>
          <a:noFill/>
          <a:ln>
            <a:noFill/>
          </a:ln>
        </p:spPr>
      </p:sp>
      <p:sp>
        <p:nvSpPr>
          <p:cNvPr id="120" name="Google Shape;120;p22"/>
          <p:cNvSpPr txBox="1">
            <a:spLocks noGrp="1"/>
          </p:cNvSpPr>
          <p:nvPr>
            <p:ph type="body" idx="1"/>
          </p:nvPr>
        </p:nvSpPr>
        <p:spPr>
          <a:xfrm>
            <a:off x="435895" y="3945095"/>
            <a:ext cx="8272213" cy="7486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828"/>
              <a:buNone/>
              <a:defRPr sz="900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621"/>
              <a:buNone/>
              <a:defRPr sz="675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SzPts val="518"/>
              <a:buNone/>
              <a:defRPr sz="563"/>
            </a:lvl3pPr>
            <a:lvl4pPr marL="1828800" lvl="3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4pPr>
            <a:lvl5pPr marL="2286000" lvl="4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5pPr>
            <a:lvl6pPr marL="2743200" lvl="5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6pPr>
            <a:lvl7pPr marL="3200400" lvl="6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7pPr>
            <a:lvl8pPr marL="3657600" lvl="7" indent="-228600" algn="l">
              <a:spcBef>
                <a:spcPts val="338"/>
              </a:spcBef>
              <a:spcAft>
                <a:spcPts val="0"/>
              </a:spcAft>
              <a:buSzPts val="466"/>
              <a:buNone/>
              <a:defRPr sz="506"/>
            </a:lvl8pPr>
            <a:lvl9pPr marL="4114800" lvl="8" indent="-228600" algn="l">
              <a:spcBef>
                <a:spcPts val="338"/>
              </a:spcBef>
              <a:spcAft>
                <a:spcPts val="338"/>
              </a:spcAft>
              <a:buSzPts val="466"/>
              <a:buNone/>
              <a:defRPr sz="506"/>
            </a:lvl9pPr>
          </a:lstStyle>
          <a:p>
            <a:endParaRPr/>
          </a:p>
        </p:txBody>
      </p:sp>
      <p:sp>
        <p:nvSpPr>
          <p:cNvPr id="121" name="Google Shape;121;p22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" name="Google Shape;122;p22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 txBox="1">
            <a:spLocks noGrp="1"/>
          </p:cNvSpPr>
          <p:nvPr>
            <p:ph type="title"/>
          </p:nvPr>
        </p:nvSpPr>
        <p:spPr>
          <a:xfrm>
            <a:off x="792000" y="27000"/>
            <a:ext cx="7920000" cy="6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3"/>
          <p:cNvSpPr txBox="1">
            <a:spLocks noGrp="1"/>
          </p:cNvSpPr>
          <p:nvPr>
            <p:ph type="body" idx="1"/>
          </p:nvPr>
        </p:nvSpPr>
        <p:spPr>
          <a:xfrm rot="5400000">
            <a:off x="2547000" y="-1746000"/>
            <a:ext cx="4050000" cy="9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68808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2208"/>
              <a:buChar char="◼"/>
              <a:defRPr/>
            </a:lvl1pPr>
            <a:lvl2pPr marL="914400" lvl="1" indent="-345440" algn="l">
              <a:spcBef>
                <a:spcPts val="400"/>
              </a:spcBef>
              <a:spcAft>
                <a:spcPts val="0"/>
              </a:spcAft>
              <a:buSzPts val="1840"/>
              <a:buChar char="◼"/>
              <a:defRPr/>
            </a:lvl2pPr>
            <a:lvl3pPr marL="1371600" lvl="2" indent="-322072" algn="l">
              <a:spcBef>
                <a:spcPts val="320"/>
              </a:spcBef>
              <a:spcAft>
                <a:spcPts val="0"/>
              </a:spcAft>
              <a:buSzPts val="1472"/>
              <a:buChar char="◼"/>
              <a:defRPr/>
            </a:lvl3pPr>
            <a:lvl4pPr marL="1828800" lvl="3" indent="-310388" algn="l">
              <a:spcBef>
                <a:spcPts val="338"/>
              </a:spcBef>
              <a:spcAft>
                <a:spcPts val="0"/>
              </a:spcAft>
              <a:buSzPts val="1288"/>
              <a:buChar char="◼"/>
              <a:defRPr/>
            </a:lvl4pPr>
            <a:lvl5pPr marL="2286000" lvl="4" indent="-310388" algn="l">
              <a:spcBef>
                <a:spcPts val="338"/>
              </a:spcBef>
              <a:spcAft>
                <a:spcPts val="0"/>
              </a:spcAft>
              <a:buSzPts val="1288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27" name="Google Shape;127;p23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/>
          <p:nvPr/>
        </p:nvSpPr>
        <p:spPr>
          <a:xfrm>
            <a:off x="6043613" y="449794"/>
            <a:ext cx="2765487" cy="4362713"/>
          </a:xfrm>
          <a:prstGeom prst="rect">
            <a:avLst/>
          </a:prstGeom>
          <a:solidFill>
            <a:srgbClr val="4653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title"/>
          </p:nvPr>
        </p:nvSpPr>
        <p:spPr>
          <a:xfrm rot="5400000">
            <a:off x="5521978" y="1278872"/>
            <a:ext cx="3605495" cy="2343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Franklin Gothic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body" idx="1"/>
          </p:nvPr>
        </p:nvSpPr>
        <p:spPr>
          <a:xfrm rot="5400000">
            <a:off x="1464056" y="-235162"/>
            <a:ext cx="3605495" cy="5371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34" name="Google Shape;134;p24"/>
          <p:cNvSpPr/>
          <p:nvPr/>
        </p:nvSpPr>
        <p:spPr>
          <a:xfrm>
            <a:off x="334901" y="342900"/>
            <a:ext cx="2777490" cy="71248"/>
          </a:xfrm>
          <a:prstGeom prst="rect">
            <a:avLst/>
          </a:prstGeom>
          <a:solidFill>
            <a:srgbClr val="969FA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4"/>
          <p:cNvSpPr/>
          <p:nvPr/>
        </p:nvSpPr>
        <p:spPr>
          <a:xfrm>
            <a:off x="6031610" y="340232"/>
            <a:ext cx="2777490" cy="73915"/>
          </a:xfrm>
          <a:prstGeom prst="rect">
            <a:avLst/>
          </a:prstGeom>
          <a:solidFill>
            <a:srgbClr val="46535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24"/>
          <p:cNvSpPr/>
          <p:nvPr/>
        </p:nvSpPr>
        <p:spPr>
          <a:xfrm>
            <a:off x="3181373" y="342900"/>
            <a:ext cx="2777490" cy="685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 and Clip Art" type="txAndClipArt">
  <p:cSld name="TEXT_AND_CLIPART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5"/>
          <p:cNvSpPr txBox="1">
            <a:spLocks noGrp="1"/>
          </p:cNvSpPr>
          <p:nvPr>
            <p:ph type="title"/>
          </p:nvPr>
        </p:nvSpPr>
        <p:spPr>
          <a:xfrm>
            <a:off x="87313" y="92869"/>
            <a:ext cx="8999537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5"/>
          <p:cNvSpPr txBox="1">
            <a:spLocks noGrp="1"/>
          </p:cNvSpPr>
          <p:nvPr>
            <p:ph type="body" idx="1"/>
          </p:nvPr>
        </p:nvSpPr>
        <p:spPr>
          <a:xfrm>
            <a:off x="361950" y="789385"/>
            <a:ext cx="4168775" cy="37826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43" name="Google Shape;143;p25"/>
          <p:cNvSpPr>
            <a:spLocks noGrp="1"/>
          </p:cNvSpPr>
          <p:nvPr>
            <p:ph type="clipArt" idx="2"/>
          </p:nvPr>
        </p:nvSpPr>
        <p:spPr>
          <a:xfrm>
            <a:off x="4683125" y="789385"/>
            <a:ext cx="4168775" cy="3782615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Text, and 2 Content" type="txAndTwoObj">
  <p:cSld name="TEXT_AND_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>
            <a:spLocks noGrp="1"/>
          </p:cNvSpPr>
          <p:nvPr>
            <p:ph type="title"/>
          </p:nvPr>
        </p:nvSpPr>
        <p:spPr>
          <a:xfrm>
            <a:off x="179388" y="1232297"/>
            <a:ext cx="8964612" cy="4214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6"/>
          <p:cNvSpPr txBox="1">
            <a:spLocks noGrp="1"/>
          </p:cNvSpPr>
          <p:nvPr>
            <p:ph type="body" idx="1"/>
          </p:nvPr>
        </p:nvSpPr>
        <p:spPr>
          <a:xfrm>
            <a:off x="179388" y="1762125"/>
            <a:ext cx="4316412" cy="2969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47" name="Google Shape;147;p26"/>
          <p:cNvSpPr txBox="1">
            <a:spLocks noGrp="1"/>
          </p:cNvSpPr>
          <p:nvPr>
            <p:ph type="body" idx="2"/>
          </p:nvPr>
        </p:nvSpPr>
        <p:spPr>
          <a:xfrm>
            <a:off x="4648200" y="1762125"/>
            <a:ext cx="4316413" cy="1427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48" name="Google Shape;148;p26"/>
          <p:cNvSpPr txBox="1">
            <a:spLocks noGrp="1"/>
          </p:cNvSpPr>
          <p:nvPr>
            <p:ph type="body" idx="3"/>
          </p:nvPr>
        </p:nvSpPr>
        <p:spPr>
          <a:xfrm>
            <a:off x="4648200" y="3303985"/>
            <a:ext cx="4316413" cy="14275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49" name="Google Shape;149;p26"/>
          <p:cNvSpPr txBox="1">
            <a:spLocks noGrp="1"/>
          </p:cNvSpPr>
          <p:nvPr>
            <p:ph type="dt" idx="10"/>
          </p:nvPr>
        </p:nvSpPr>
        <p:spPr>
          <a:xfrm>
            <a:off x="1214438" y="4839891"/>
            <a:ext cx="1773237" cy="239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26"/>
          <p:cNvSpPr txBox="1">
            <a:spLocks noGrp="1"/>
          </p:cNvSpPr>
          <p:nvPr>
            <p:ph type="ftr" idx="11"/>
          </p:nvPr>
        </p:nvSpPr>
        <p:spPr>
          <a:xfrm>
            <a:off x="3124200" y="4839891"/>
            <a:ext cx="2895600" cy="239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6"/>
          <p:cNvSpPr txBox="1">
            <a:spLocks noGrp="1"/>
          </p:cNvSpPr>
          <p:nvPr>
            <p:ph type="sldNum" idx="12"/>
          </p:nvPr>
        </p:nvSpPr>
        <p:spPr>
          <a:xfrm>
            <a:off x="6902450" y="4830366"/>
            <a:ext cx="2133600" cy="239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0" lvl="1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0" lvl="2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0" lvl="3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0" lvl="4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0" lvl="5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0" lvl="6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0" lvl="7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0" lvl="8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Over Text" type="objOverTx">
  <p:cSld name="OBJECT_OVER_TEXT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7"/>
          <p:cNvSpPr txBox="1">
            <a:spLocks noGrp="1"/>
          </p:cNvSpPr>
          <p:nvPr>
            <p:ph type="title"/>
          </p:nvPr>
        </p:nvSpPr>
        <p:spPr>
          <a:xfrm>
            <a:off x="419100" y="166688"/>
            <a:ext cx="8153400" cy="528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7"/>
          <p:cNvSpPr txBox="1">
            <a:spLocks noGrp="1"/>
          </p:cNvSpPr>
          <p:nvPr>
            <p:ph type="body" idx="1"/>
          </p:nvPr>
        </p:nvSpPr>
        <p:spPr>
          <a:xfrm>
            <a:off x="355600" y="971550"/>
            <a:ext cx="8255000" cy="178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55" name="Google Shape;155;p27"/>
          <p:cNvSpPr txBox="1">
            <a:spLocks noGrp="1"/>
          </p:cNvSpPr>
          <p:nvPr>
            <p:ph type="body" idx="2"/>
          </p:nvPr>
        </p:nvSpPr>
        <p:spPr>
          <a:xfrm>
            <a:off x="355600" y="2874169"/>
            <a:ext cx="8255000" cy="17883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/>
          <p:nvPr/>
        </p:nvSpPr>
        <p:spPr>
          <a:xfrm>
            <a:off x="0" y="4994672"/>
            <a:ext cx="9144000" cy="148828"/>
          </a:xfrm>
          <a:prstGeom prst="rect">
            <a:avLst/>
          </a:prstGeom>
          <a:solidFill>
            <a:srgbClr val="9EC54A">
              <a:alpha val="4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8"/>
          <p:cNvSpPr/>
          <p:nvPr/>
        </p:nvSpPr>
        <p:spPr>
          <a:xfrm>
            <a:off x="317500" y="4300538"/>
            <a:ext cx="8509000" cy="322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8"/>
          <p:cNvSpPr/>
          <p:nvPr/>
        </p:nvSpPr>
        <p:spPr>
          <a:xfrm>
            <a:off x="0" y="0"/>
            <a:ext cx="9144000" cy="478631"/>
          </a:xfrm>
          <a:prstGeom prst="rect">
            <a:avLst/>
          </a:prstGeom>
          <a:solidFill>
            <a:srgbClr val="9EC54A">
              <a:alpha val="4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0" name="Google Shape;160;p28"/>
          <p:cNvCxnSpPr/>
          <p:nvPr/>
        </p:nvCxnSpPr>
        <p:spPr>
          <a:xfrm>
            <a:off x="0" y="476250"/>
            <a:ext cx="9144000" cy="0"/>
          </a:xfrm>
          <a:prstGeom prst="straightConnector1">
            <a:avLst/>
          </a:prstGeom>
          <a:noFill/>
          <a:ln w="12700" cap="flat" cmpd="sng">
            <a:solidFill>
              <a:srgbClr val="E6C01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" name="Google Shape;161;p28"/>
          <p:cNvCxnSpPr/>
          <p:nvPr/>
        </p:nvCxnSpPr>
        <p:spPr>
          <a:xfrm>
            <a:off x="0" y="4995863"/>
            <a:ext cx="9144000" cy="0"/>
          </a:xfrm>
          <a:prstGeom prst="straightConnector1">
            <a:avLst/>
          </a:prstGeom>
          <a:noFill/>
          <a:ln w="12700" cap="flat" cmpd="sng">
            <a:solidFill>
              <a:srgbClr val="E6C01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8"/>
          <p:cNvSpPr txBox="1"/>
          <p:nvPr/>
        </p:nvSpPr>
        <p:spPr>
          <a:xfrm>
            <a:off x="8639175" y="5017294"/>
            <a:ext cx="504825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8"/>
          <p:cNvSpPr txBox="1"/>
          <p:nvPr/>
        </p:nvSpPr>
        <p:spPr>
          <a:xfrm>
            <a:off x="8112125" y="4782741"/>
            <a:ext cx="844550" cy="252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8682038" y="4969669"/>
            <a:ext cx="606425" cy="184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28" descr="MCAS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53313" y="139303"/>
            <a:ext cx="1113234" cy="222647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8"/>
          <p:cNvSpPr txBox="1"/>
          <p:nvPr/>
        </p:nvSpPr>
        <p:spPr>
          <a:xfrm>
            <a:off x="0" y="4993481"/>
            <a:ext cx="9144000" cy="160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Vocational Degree programme developed by MCAST and Fraunhofer IAO.</a:t>
            </a:r>
            <a:endParaRPr sz="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p28" descr="C:\Dokumente und Einstellungen\sahin\Desktop\iao_85mm_p33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40425" y="116681"/>
            <a:ext cx="1038225" cy="282179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8"/>
          <p:cNvSpPr txBox="1">
            <a:spLocks noGrp="1"/>
          </p:cNvSpPr>
          <p:nvPr>
            <p:ph type="body" idx="1"/>
          </p:nvPr>
        </p:nvSpPr>
        <p:spPr>
          <a:xfrm>
            <a:off x="372122" y="1438183"/>
            <a:ext cx="8443404" cy="3355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spcBef>
                <a:spcPts val="4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spcBef>
                <a:spcPts val="360"/>
              </a:spcBef>
              <a:spcAft>
                <a:spcPts val="338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ctrTitle"/>
          </p:nvPr>
        </p:nvSpPr>
        <p:spPr>
          <a:xfrm>
            <a:off x="375081" y="644972"/>
            <a:ext cx="8422689" cy="566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200"/>
              <a:buFont typeface="Arial"/>
              <a:buNone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abla" type="tbl">
  <p:cSld name="TABLE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>
            <a:spLocks noGrp="1"/>
          </p:cNvSpPr>
          <p:nvPr>
            <p:ph type="title"/>
          </p:nvPr>
        </p:nvSpPr>
        <p:spPr>
          <a:xfrm>
            <a:off x="1150938" y="400050"/>
            <a:ext cx="7793037" cy="577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29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29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29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0" lvl="1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0" lvl="2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0" lvl="3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0" lvl="4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0" lvl="5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0" lvl="6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0" lvl="7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0" lvl="8" indent="0" algn="r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>
  <p:cSld name="1_Title Slide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30"/>
          <p:cNvSpPr txBox="1">
            <a:spLocks noGrp="1"/>
          </p:cNvSpPr>
          <p:nvPr>
            <p:ph type="ctrTitle"/>
          </p:nvPr>
        </p:nvSpPr>
        <p:spPr>
          <a:xfrm>
            <a:off x="686308" y="2764305"/>
            <a:ext cx="77724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2000" tIns="46800" rIns="2520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6000"/>
              <a:buFont typeface="Franklin Gothic"/>
              <a:buNone/>
              <a:defRPr sz="6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792000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  <a:defRPr sz="2800" b="0" i="0" u="none" strike="noStrike" cap="none">
                <a:solidFill>
                  <a:srgbClr val="3F3F3F"/>
                </a:solidFill>
                <a:latin typeface="Franklin Gothic"/>
                <a:ea typeface="Franklin Gothic"/>
                <a:cs typeface="Franklin Gothic"/>
                <a:sym typeface="Frankli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000" y="729000"/>
            <a:ext cx="90000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808" algn="l" rtl="0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208"/>
              <a:buFont typeface="Noto Sans Symbols"/>
              <a:buChar char="◼"/>
              <a:defRPr sz="24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914400" marR="0" lvl="1" indent="-345440" algn="l" rtl="0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40"/>
              <a:buFont typeface="Noto Sans Symbols"/>
              <a:buChar char="◼"/>
              <a:defRPr sz="20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marR="0" lvl="2" indent="-322072" algn="l" rtl="0"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1828800" marR="0" lvl="3" indent="-310388" algn="l" rtl="0">
              <a:spcBef>
                <a:spcPts val="338"/>
              </a:spcBef>
              <a:spcAft>
                <a:spcPts val="0"/>
              </a:spcAft>
              <a:buClr>
                <a:schemeClr val="accent1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2286000" marR="0" lvl="4" indent="-310388" algn="l" rtl="0">
              <a:spcBef>
                <a:spcPts val="338"/>
              </a:spcBef>
              <a:spcAft>
                <a:spcPts val="0"/>
              </a:spcAft>
              <a:buClr>
                <a:schemeClr val="accent1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2743200" marR="0" lvl="5" indent="-268033" algn="l" rtl="0">
              <a:spcBef>
                <a:spcPts val="338"/>
              </a:spcBef>
              <a:spcAft>
                <a:spcPts val="0"/>
              </a:spcAft>
              <a:buClr>
                <a:schemeClr val="accent2"/>
              </a:buClr>
              <a:buSzPts val="621"/>
              <a:buFont typeface="Noto Sans Symbols"/>
              <a:buChar char="◼"/>
              <a:defRPr sz="675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3200400" marR="0" lvl="6" indent="-268033" algn="l" rtl="0">
              <a:spcBef>
                <a:spcPts val="338"/>
              </a:spcBef>
              <a:spcAft>
                <a:spcPts val="0"/>
              </a:spcAft>
              <a:buClr>
                <a:schemeClr val="accent2"/>
              </a:buClr>
              <a:buSzPts val="621"/>
              <a:buFont typeface="Noto Sans Symbols"/>
              <a:buChar char="◼"/>
              <a:defRPr sz="675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3657600" marR="0" lvl="7" indent="-268033" algn="l" rtl="0">
              <a:spcBef>
                <a:spcPts val="338"/>
              </a:spcBef>
              <a:spcAft>
                <a:spcPts val="0"/>
              </a:spcAft>
              <a:buClr>
                <a:schemeClr val="accent2"/>
              </a:buClr>
              <a:buSzPts val="621"/>
              <a:buFont typeface="Noto Sans Symbols"/>
              <a:buChar char="◼"/>
              <a:defRPr sz="675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4114800" marR="0" lvl="8" indent="-268033" algn="l" rtl="0">
              <a:spcBef>
                <a:spcPts val="338"/>
              </a:spcBef>
              <a:spcAft>
                <a:spcPts val="338"/>
              </a:spcAft>
              <a:buClr>
                <a:schemeClr val="accent2"/>
              </a:buClr>
              <a:buSzPts val="621"/>
              <a:buFont typeface="Noto Sans Symbols"/>
              <a:buChar char="◼"/>
              <a:defRPr sz="675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7563534" y="4875779"/>
            <a:ext cx="940649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758803" y="4875779"/>
            <a:ext cx="6759654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rgbClr val="3F3F3F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71999" y="665437"/>
            <a:ext cx="9000000" cy="34289"/>
          </a:xfrm>
          <a:prstGeom prst="rect">
            <a:avLst/>
          </a:prstGeom>
          <a:gradFill>
            <a:gsLst>
              <a:gs pos="0">
                <a:srgbClr val="D0EEF9"/>
              </a:gs>
              <a:gs pos="3000">
                <a:srgbClr val="D0EEF9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2" y="5112167"/>
            <a:ext cx="9143999" cy="27000"/>
          </a:xfrm>
          <a:prstGeom prst="rect">
            <a:avLst/>
          </a:prstGeom>
          <a:gradFill>
            <a:gsLst>
              <a:gs pos="0">
                <a:srgbClr val="FFFFFF">
                  <a:alpha val="55686"/>
                </a:srgbClr>
              </a:gs>
              <a:gs pos="3000">
                <a:srgbClr val="FFFFFF">
                  <a:alpha val="55686"/>
                </a:srgbClr>
              </a:gs>
              <a:gs pos="100000">
                <a:srgbClr val="D0EEF9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58" name="Google Shape;58;p13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85394" y="128586"/>
            <a:ext cx="522922" cy="411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descr="A close up of a logo&#10;&#10;Description automatically generated"/>
          <p:cNvPicPr preferRelativeResize="0"/>
          <p:nvPr/>
        </p:nvPicPr>
        <p:blipFill rotWithShape="1">
          <a:blip r:embed="rId20">
            <a:alphaModFix amt="79000"/>
          </a:blip>
          <a:srcRect l="13473" t="23715" r="15700" b="21450"/>
          <a:stretch/>
        </p:blipFill>
        <p:spPr>
          <a:xfrm>
            <a:off x="8469403" y="222689"/>
            <a:ext cx="634769" cy="22982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Vfwp8n83O1gCEHi79AireHW30XPVMgX9Vx-R8o2vr5w/edit?usp=sharing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ailyspeak.app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1"/>
          <p:cNvSpPr txBox="1">
            <a:spLocks noGrp="1"/>
          </p:cNvSpPr>
          <p:nvPr>
            <p:ph type="ctrTitle"/>
          </p:nvPr>
        </p:nvSpPr>
        <p:spPr>
          <a:xfrm>
            <a:off x="462947" y="2814007"/>
            <a:ext cx="8245162" cy="1106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000"/>
              <a:buFont typeface="Franklin Gothic"/>
              <a:buNone/>
            </a:pPr>
            <a:r>
              <a:rPr lang="en" sz="4000"/>
              <a:t>DAILY SPEAK UP</a:t>
            </a:r>
            <a:endParaRPr sz="4000"/>
          </a:p>
        </p:txBody>
      </p:sp>
      <p:sp>
        <p:nvSpPr>
          <p:cNvPr id="183" name="Google Shape;183;p31"/>
          <p:cNvSpPr txBox="1">
            <a:spLocks noGrp="1"/>
          </p:cNvSpPr>
          <p:nvPr>
            <p:ph type="subTitle" idx="1"/>
          </p:nvPr>
        </p:nvSpPr>
        <p:spPr>
          <a:xfrm>
            <a:off x="699328" y="3920267"/>
            <a:ext cx="7772400" cy="442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288"/>
              <a:buNone/>
            </a:pPr>
            <a:r>
              <a:rPr lang="en" sz="1400"/>
              <a:t>Tim:  TG 08.1 Emil i programeri</a:t>
            </a:r>
            <a:endParaRPr sz="1400"/>
          </a:p>
          <a:p>
            <a:pPr marL="0" lvl="0" indent="0" algn="ctr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104"/>
              <a:buNone/>
            </a:pPr>
            <a:r>
              <a:rPr lang="en"/>
              <a:t>Ak. god. 2025./2025.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2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SADRŽAJ</a:t>
            </a:r>
            <a:endParaRPr/>
          </a:p>
        </p:txBody>
      </p:sp>
      <p:sp>
        <p:nvSpPr>
          <p:cNvPr id="190" name="Google Shape;190;p32"/>
          <p:cNvSpPr txBox="1">
            <a:spLocks noGrp="1"/>
          </p:cNvSpPr>
          <p:nvPr>
            <p:ph type="body" idx="1"/>
          </p:nvPr>
        </p:nvSpPr>
        <p:spPr>
          <a:xfrm>
            <a:off x="71999" y="729000"/>
            <a:ext cx="90000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66700" lvl="0" indent="-2667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208"/>
              <a:buChar char="◼"/>
            </a:pPr>
            <a:r>
              <a:rPr lang="en"/>
              <a:t>Članovi tima</a:t>
            </a:r>
            <a:endParaRPr/>
          </a:p>
          <a:p>
            <a:pPr marL="266700" lvl="0" indent="-2667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Char char="◼"/>
            </a:pPr>
            <a:r>
              <a:rPr lang="en"/>
              <a:t>Cilj projekta</a:t>
            </a:r>
            <a:endParaRPr/>
          </a:p>
          <a:p>
            <a:pPr marL="266700" lvl="0" indent="-2667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Char char="◼"/>
            </a:pPr>
            <a:r>
              <a:rPr lang="en"/>
              <a:t>Analiza i oblikovanje sustava	</a:t>
            </a:r>
            <a:endParaRPr/>
          </a:p>
          <a:p>
            <a:pPr marL="486899" lvl="1" indent="-342900" algn="l" rtl="0">
              <a:spcBef>
                <a:spcPts val="700"/>
              </a:spcBef>
              <a:spcAft>
                <a:spcPts val="0"/>
              </a:spcAft>
              <a:buSzPts val="1840"/>
              <a:buChar char="◼"/>
            </a:pPr>
            <a:r>
              <a:rPr lang="en"/>
              <a:t>Zahtjevi</a:t>
            </a:r>
            <a:endParaRPr/>
          </a:p>
          <a:p>
            <a:pPr marL="486899" lvl="1" indent="-342900" algn="l" rtl="0">
              <a:spcBef>
                <a:spcPts val="700"/>
              </a:spcBef>
              <a:spcAft>
                <a:spcPts val="0"/>
              </a:spcAft>
              <a:buSzPts val="1840"/>
              <a:buChar char="◼"/>
            </a:pPr>
            <a:r>
              <a:rPr lang="en"/>
              <a:t>Arhitektura</a:t>
            </a:r>
            <a:endParaRPr/>
          </a:p>
          <a:p>
            <a:pPr marL="266700" lvl="0" indent="-2667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Char char="◼"/>
            </a:pPr>
            <a:r>
              <a:rPr lang="en"/>
              <a:t>Organizacija rada </a:t>
            </a:r>
            <a:endParaRPr/>
          </a:p>
          <a:p>
            <a:pPr marL="266700" lvl="0" indent="-26670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Char char="◼"/>
            </a:pPr>
            <a:r>
              <a:rPr lang="en"/>
              <a:t>Iskustva</a:t>
            </a:r>
            <a:endParaRPr/>
          </a:p>
          <a:p>
            <a:pPr marL="266700" lvl="0" indent="-126492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None/>
            </a:pPr>
            <a:endParaRPr/>
          </a:p>
        </p:txBody>
      </p:sp>
      <p:sp>
        <p:nvSpPr>
          <p:cNvPr id="191" name="Google Shape;191;p32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3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ČLANOVI GRUPE</a:t>
            </a:r>
            <a:endParaRPr/>
          </a:p>
        </p:txBody>
      </p:sp>
      <p:sp>
        <p:nvSpPr>
          <p:cNvPr id="198" name="Google Shape;198;p33"/>
          <p:cNvSpPr txBox="1">
            <a:spLocks noGrp="1"/>
          </p:cNvSpPr>
          <p:nvPr>
            <p:ph type="body" idx="1"/>
          </p:nvPr>
        </p:nvSpPr>
        <p:spPr>
          <a:xfrm>
            <a:off x="72000" y="729000"/>
            <a:ext cx="9000000" cy="44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66700" lvl="0" indent="-219557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Emil Popović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Voditelj, backend, baza podataka</a:t>
            </a:r>
            <a:endParaRPr sz="1300"/>
          </a:p>
          <a:p>
            <a:pPr marL="266700" lvl="0" indent="-219557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Kristijan Bilanović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Frontend, testiranje</a:t>
            </a:r>
            <a:endParaRPr sz="1300"/>
          </a:p>
          <a:p>
            <a:pPr marL="266700" lvl="0" indent="-219557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Lara Brečić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Frontend, baza podataka</a:t>
            </a:r>
            <a:endParaRPr sz="1300"/>
          </a:p>
          <a:p>
            <a:pPr marL="266700" lvl="0" indent="-219557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Lara Desnica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Frontend, dokumentacija</a:t>
            </a:r>
            <a:endParaRPr sz="1300"/>
          </a:p>
          <a:p>
            <a:pPr marL="266700" lvl="0" indent="-219557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Mate Jakovljev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UI/UX, frontend</a:t>
            </a:r>
            <a:endParaRPr sz="1300"/>
          </a:p>
          <a:p>
            <a:pPr marL="266700" lvl="0" indent="-219557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Matej Jurasić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Backend, testiranje</a:t>
            </a:r>
            <a:endParaRPr sz="1300"/>
          </a:p>
          <a:p>
            <a:pPr marL="266700" lvl="0" indent="-219557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Nika Valić</a:t>
            </a:r>
            <a:endParaRPr sz="1300"/>
          </a:p>
          <a:p>
            <a:pPr marL="486899" lvl="1" indent="-317372" algn="l" rtl="0">
              <a:spcBef>
                <a:spcPts val="700"/>
              </a:spcBef>
              <a:spcAft>
                <a:spcPts val="0"/>
              </a:spcAft>
              <a:buSzPts val="1300"/>
              <a:buChar char="◼"/>
            </a:pPr>
            <a:r>
              <a:rPr lang="en" sz="1300"/>
              <a:t>UI/UX, dokumentacija</a:t>
            </a:r>
            <a:endParaRPr sz="1300"/>
          </a:p>
          <a:p>
            <a:pPr marL="0" lvl="0" indent="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None/>
            </a:pPr>
            <a:endParaRPr sz="1300"/>
          </a:p>
        </p:txBody>
      </p:sp>
      <p:sp>
        <p:nvSpPr>
          <p:cNvPr id="199" name="Google Shape;199;p33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4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O PROJEKTU</a:t>
            </a:r>
            <a:endParaRPr/>
          </a:p>
        </p:txBody>
      </p:sp>
      <p:sp>
        <p:nvSpPr>
          <p:cNvPr id="206" name="Google Shape;206;p34"/>
          <p:cNvSpPr txBox="1">
            <a:spLocks noGrp="1"/>
          </p:cNvSpPr>
          <p:nvPr>
            <p:ph type="body" idx="1"/>
          </p:nvPr>
        </p:nvSpPr>
        <p:spPr>
          <a:xfrm>
            <a:off x="72000" y="1017700"/>
            <a:ext cx="9000000" cy="314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66700" lvl="0" indent="-22809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Libre Franklin"/>
              <a:buChar char="◼"/>
            </a:pPr>
            <a:r>
              <a:rPr lang="en" sz="1600">
                <a:highlight>
                  <a:schemeClr val="lt1"/>
                </a:highlight>
              </a:rPr>
              <a:t>DailySpeakUp pristupačna je aplikacija koja omogućava svakodnevno vježbanje javnog govora</a:t>
            </a:r>
            <a:endParaRPr sz="1600">
              <a:highlight>
                <a:schemeClr val="lt1"/>
              </a:highlight>
            </a:endParaRPr>
          </a:p>
          <a:p>
            <a:pPr marL="266700" lvl="0" indent="-22809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Libre Franklin"/>
              <a:buChar char="◼"/>
            </a:pPr>
            <a:r>
              <a:rPr lang="en" sz="1600">
                <a:highlight>
                  <a:schemeClr val="lt1"/>
                </a:highlight>
              </a:rPr>
              <a:t>Snimanje jednominutnih govornih  izazova</a:t>
            </a:r>
            <a:endParaRPr sz="1600">
              <a:highlight>
                <a:schemeClr val="lt1"/>
              </a:highlight>
            </a:endParaRPr>
          </a:p>
          <a:p>
            <a:pPr marL="266700" lvl="0" indent="-228091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Libre Franklin"/>
              <a:buChar char="◼"/>
            </a:pPr>
            <a:r>
              <a:rPr lang="en" sz="1600">
                <a:highlight>
                  <a:schemeClr val="lt1"/>
                </a:highlight>
              </a:rPr>
              <a:t>Mogućnost praćenja napretka, dijeljenja videozapisa i dobivanja povratnih informacija od prijatelja</a:t>
            </a:r>
            <a:endParaRPr sz="1600">
              <a:highlight>
                <a:schemeClr val="lt1"/>
              </a:highlight>
            </a:endParaRPr>
          </a:p>
          <a:p>
            <a:pPr marL="266700" lvl="0" indent="0" algn="l" rtl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/>
          </a:p>
        </p:txBody>
      </p:sp>
      <p:sp>
        <p:nvSpPr>
          <p:cNvPr id="207" name="Google Shape;207;p34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5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3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25000"/>
              </a:lnSpc>
              <a:spcBef>
                <a:spcPts val="1800"/>
              </a:spcBef>
              <a:spcAft>
                <a:spcPts val="1200"/>
              </a:spcAft>
              <a:buNone/>
            </a:pPr>
            <a:r>
              <a:rPr lang="en" sz="1800" b="1">
                <a:solidFill>
                  <a:srgbClr val="1F232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Postojeća slična rješenja</a:t>
            </a:r>
            <a:endParaRPr/>
          </a:p>
        </p:txBody>
      </p:sp>
      <p:sp>
        <p:nvSpPr>
          <p:cNvPr id="213" name="Google Shape;213;p35"/>
          <p:cNvSpPr txBox="1">
            <a:spLocks noGrp="1"/>
          </p:cNvSpPr>
          <p:nvPr>
            <p:ph type="body" idx="1"/>
          </p:nvPr>
        </p:nvSpPr>
        <p:spPr>
          <a:xfrm>
            <a:off x="297275" y="893275"/>
            <a:ext cx="4821300" cy="37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11150" algn="l" rtl="0">
              <a:spcBef>
                <a:spcPts val="500"/>
              </a:spcBef>
              <a:spcAft>
                <a:spcPts val="0"/>
              </a:spcAft>
              <a:buSzPts val="1300"/>
              <a:buFont typeface="Arial"/>
              <a:buChar char="◼"/>
            </a:pPr>
            <a:r>
              <a:rPr lang="en" sz="1300">
                <a:solidFill>
                  <a:srgbClr val="1F232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Orai aplikacija </a:t>
            </a:r>
            <a:endParaRPr sz="1300">
              <a:solidFill>
                <a:srgbClr val="1F2328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◼"/>
            </a:pPr>
            <a:r>
              <a:rPr lang="en" sz="1300">
                <a:solidFill>
                  <a:srgbClr val="1F232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Pomoću umjetne inteligencije pomaže pri uvježbavanju prezentiranja i govora u javnosti </a:t>
            </a:r>
            <a:endParaRPr sz="1300">
              <a:solidFill>
                <a:srgbClr val="1F2328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◼"/>
            </a:pPr>
            <a:r>
              <a:rPr lang="en" sz="1300">
                <a:solidFill>
                  <a:srgbClr val="1F232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Cilj aplikacije je automatska povratna informacija korisniku</a:t>
            </a:r>
            <a:endParaRPr sz="1300">
              <a:solidFill>
                <a:srgbClr val="1F2328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914400" lvl="1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◼"/>
            </a:pPr>
            <a:r>
              <a:rPr lang="en" sz="1300" b="1">
                <a:solidFill>
                  <a:srgbClr val="1F232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DailySpeakUp </a:t>
            </a:r>
            <a:r>
              <a:rPr lang="en" sz="1300">
                <a:solidFill>
                  <a:srgbClr val="1F2328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ne koristi umjetnu inteligenciju za analizu snimaka korisnika (korisnik sam prati svoj napredak). </a:t>
            </a:r>
            <a:endParaRPr sz="2500"/>
          </a:p>
        </p:txBody>
      </p:sp>
      <p:pic>
        <p:nvPicPr>
          <p:cNvPr id="214" name="Google Shape;214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7425" y="1190162"/>
            <a:ext cx="1361625" cy="2763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67950" y="1148037"/>
            <a:ext cx="1444050" cy="284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5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2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PREGLED FUNKCIONALNIH ZAHTJEVA</a:t>
            </a:r>
            <a:endParaRPr/>
          </a:p>
        </p:txBody>
      </p:sp>
      <p:sp>
        <p:nvSpPr>
          <p:cNvPr id="222" name="Google Shape;222;p36"/>
          <p:cNvSpPr txBox="1">
            <a:spLocks noGrp="1"/>
          </p:cNvSpPr>
          <p:nvPr>
            <p:ph type="body" idx="1"/>
          </p:nvPr>
        </p:nvSpPr>
        <p:spPr>
          <a:xfrm>
            <a:off x="182625" y="729000"/>
            <a:ext cx="38823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Funkcionalni zahtjevi</a:t>
            </a:r>
            <a:endParaRPr/>
          </a:p>
          <a:p>
            <a:pPr marL="266700" lvl="0" indent="-2222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8"/>
              <a:buChar char="◼"/>
            </a:pPr>
            <a:r>
              <a:rPr lang="en" sz="1700"/>
              <a:t>F2 Korisnik može odabrati interese</a:t>
            </a:r>
            <a:endParaRPr sz="1700"/>
          </a:p>
          <a:p>
            <a:pPr marL="266700" lvl="0" indent="-2222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8"/>
              <a:buChar char="◼"/>
            </a:pPr>
            <a:r>
              <a:rPr lang="en" sz="1700"/>
              <a:t>F4 Dnevne AI generirane teme</a:t>
            </a:r>
            <a:endParaRPr sz="1700"/>
          </a:p>
          <a:p>
            <a:pPr marL="266700" lvl="0" indent="-2222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8"/>
              <a:buChar char="◼"/>
            </a:pPr>
            <a:r>
              <a:rPr lang="en" sz="1700"/>
              <a:t>F5 Korisnik može snimati nove govore</a:t>
            </a:r>
            <a:endParaRPr sz="1700"/>
          </a:p>
          <a:p>
            <a:pPr marL="266700" lvl="0" indent="-2222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8"/>
              <a:buChar char="◼"/>
            </a:pPr>
            <a:r>
              <a:rPr lang="en" sz="1700"/>
              <a:t>F7 Korisnik može imati prijatelje</a:t>
            </a:r>
            <a:endParaRPr sz="1700"/>
          </a:p>
          <a:p>
            <a:pPr marL="266700" lvl="0" indent="-2222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8"/>
              <a:buChar char="◼"/>
            </a:pPr>
            <a:r>
              <a:rPr lang="en" sz="1700"/>
              <a:t>F11 Korisnik može ocjenjivati govor</a:t>
            </a:r>
            <a:endParaRPr sz="1700"/>
          </a:p>
          <a:p>
            <a:pPr marL="266700" lvl="0" indent="-2222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508"/>
              <a:buChar char="◼"/>
            </a:pPr>
            <a:r>
              <a:rPr lang="en" sz="1700"/>
              <a:t>F12 Praćenje streaka</a:t>
            </a:r>
            <a:endParaRPr sz="1700"/>
          </a:p>
        </p:txBody>
      </p:sp>
      <p:sp>
        <p:nvSpPr>
          <p:cNvPr id="223" name="Google Shape;223;p36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24" name="Google Shape;224;p36"/>
          <p:cNvSpPr txBox="1"/>
          <p:nvPr/>
        </p:nvSpPr>
        <p:spPr>
          <a:xfrm>
            <a:off x="5045125" y="729000"/>
            <a:ext cx="39792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b="1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Nefunkcionalni zahtjevi</a:t>
            </a:r>
            <a:endParaRPr sz="2400" b="1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24358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8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NF1 Performanse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365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NF2 Sigurnost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365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NF3 Dostupnost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365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NF4 Održivost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365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NF5 Skalabilnost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365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NF6 Pouzdanost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457200" lvl="0" indent="-33655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Noto Sans Symbols"/>
              <a:buChar char="◼"/>
            </a:pPr>
            <a:r>
              <a:rPr lang="en" sz="17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NF7  Uporaba</a:t>
            </a:r>
            <a:endParaRPr sz="17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7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UML DIJAGRAM OBRAZACA UPORABE</a:t>
            </a:r>
            <a:endParaRPr/>
          </a:p>
        </p:txBody>
      </p:sp>
      <p:sp>
        <p:nvSpPr>
          <p:cNvPr id="230" name="Google Shape;230;p37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231" name="Google Shape;231;p37"/>
          <p:cNvPicPr preferRelativeResize="0"/>
          <p:nvPr/>
        </p:nvPicPr>
        <p:blipFill rotWithShape="1">
          <a:blip r:embed="rId3">
            <a:alphaModFix/>
          </a:blip>
          <a:srcRect b="15002"/>
          <a:stretch/>
        </p:blipFill>
        <p:spPr>
          <a:xfrm>
            <a:off x="2019238" y="811400"/>
            <a:ext cx="5105524" cy="412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ARHITEKTURA SUSTAVA</a:t>
            </a:r>
            <a:endParaRPr/>
          </a:p>
        </p:txBody>
      </p:sp>
      <p:sp>
        <p:nvSpPr>
          <p:cNvPr id="237" name="Google Shape;237;p38"/>
          <p:cNvSpPr txBox="1">
            <a:spLocks noGrp="1"/>
          </p:cNvSpPr>
          <p:nvPr>
            <p:ph type="body" idx="1"/>
          </p:nvPr>
        </p:nvSpPr>
        <p:spPr>
          <a:xfrm>
            <a:off x="72000" y="729000"/>
            <a:ext cx="2844000" cy="44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Klijent-poslužitelj arhitektura omogućava: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Paralelni razvoj (frontend i backend timovi)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Neovisno skaliranje komponenti (stateless API, CDN frontend)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Fleksibilan odabir tehnologija (Vue.js za UI, FastAPI za performanse)</a:t>
            </a:r>
            <a:endParaRPr sz="1300">
              <a:solidFill>
                <a:srgbClr val="1F2328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300" b="1">
              <a:solidFill>
                <a:srgbClr val="1F2328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38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2" name="Picture 1" descr="A screenshot of a diagram&#10;&#10;AI-generated content may be incorrect.">
            <a:extLst>
              <a:ext uri="{FF2B5EF4-FFF2-40B4-BE49-F238E27FC236}">
                <a16:creationId xmlns:a16="http://schemas.microsoft.com/office/drawing/2014/main" id="{EEC77B70-1E24-8F3A-AEDE-92C918D73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6200" y="1590365"/>
            <a:ext cx="6527800" cy="32835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9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ISPITIVANJE</a:t>
            </a:r>
            <a:endParaRPr/>
          </a:p>
        </p:txBody>
      </p:sp>
      <p:sp>
        <p:nvSpPr>
          <p:cNvPr id="245" name="Google Shape;245;p39"/>
          <p:cNvSpPr txBox="1">
            <a:spLocks noGrp="1"/>
          </p:cNvSpPr>
          <p:nvPr>
            <p:ph type="body" idx="1"/>
          </p:nvPr>
        </p:nvSpPr>
        <p:spPr>
          <a:xfrm>
            <a:off x="71999" y="729000"/>
            <a:ext cx="90000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Unit testovi -&gt; Integracijski  testovi -&gt; E2E testovi</a:t>
            </a: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Alati: pytest, pytest-asyncio, FastAPI TestClient, SQLite, unittest.mock</a:t>
            </a: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Arrange-Act-Assert obrazac </a:t>
            </a:r>
            <a:endParaRPr sz="1850"/>
          </a:p>
          <a:p>
            <a:pPr marL="2667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Komponente: pydantic validacije, servisna logika, ograničenja baze podataka</a:t>
            </a: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Cilj je bio testiranje ponašanja cijelog sustava u stvarnim uvjetima korištenja</a:t>
            </a:r>
            <a:endParaRPr sz="1850"/>
          </a:p>
          <a:p>
            <a:pPr marL="26670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6 unit testova</a:t>
            </a: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4 API endpoints testirana</a:t>
            </a: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4 scenarija aplikacije preko web sučelja</a:t>
            </a:r>
            <a:endParaRPr sz="1850"/>
          </a:p>
          <a:p>
            <a:pPr marL="266700" lvl="0" indent="-243966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850"/>
              <a:buChar char="◼"/>
            </a:pPr>
            <a:r>
              <a:rPr lang="en" sz="1850"/>
              <a:t>Svi testovi prolaze</a:t>
            </a:r>
            <a:endParaRPr sz="1850"/>
          </a:p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50"/>
          </a:p>
        </p:txBody>
      </p:sp>
      <p:sp>
        <p:nvSpPr>
          <p:cNvPr id="246" name="Google Shape;246;p39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0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KORIŠTENI ALATI I TEHNOLOGIJE</a:t>
            </a:r>
            <a:endParaRPr/>
          </a:p>
        </p:txBody>
      </p:sp>
      <p:sp>
        <p:nvSpPr>
          <p:cNvPr id="252" name="Google Shape;252;p40"/>
          <p:cNvSpPr txBox="1">
            <a:spLocks noGrp="1"/>
          </p:cNvSpPr>
          <p:nvPr>
            <p:ph type="body" idx="1"/>
          </p:nvPr>
        </p:nvSpPr>
        <p:spPr>
          <a:xfrm>
            <a:off x="72000" y="1242450"/>
            <a:ext cx="9000000" cy="26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86900" lvl="1" indent="-334137" algn="l" rtl="0">
              <a:spcBef>
                <a:spcPts val="700"/>
              </a:spcBef>
              <a:spcAft>
                <a:spcPts val="0"/>
              </a:spcAft>
              <a:buSzPct val="91999"/>
              <a:buChar char="◼"/>
            </a:pPr>
            <a:r>
              <a:rPr lang="en"/>
              <a:t>Dokumentacija: Wiki</a:t>
            </a:r>
            <a:endParaRPr/>
          </a:p>
          <a:p>
            <a:pPr marL="486900" lvl="1" indent="-334137" algn="l" rtl="0">
              <a:spcBef>
                <a:spcPts val="700"/>
              </a:spcBef>
              <a:spcAft>
                <a:spcPts val="0"/>
              </a:spcAft>
              <a:buSzPct val="91999"/>
              <a:buChar char="◼"/>
            </a:pPr>
            <a:r>
              <a:rPr lang="en"/>
              <a:t>Dizajn: Figma</a:t>
            </a:r>
            <a:endParaRPr/>
          </a:p>
          <a:p>
            <a:pPr marL="486900" lvl="1" indent="-334137" algn="l" rtl="0">
              <a:spcBef>
                <a:spcPts val="700"/>
              </a:spcBef>
              <a:spcAft>
                <a:spcPts val="0"/>
              </a:spcAft>
              <a:buSzPct val="91999"/>
              <a:buChar char="◼"/>
            </a:pPr>
            <a:r>
              <a:rPr lang="en"/>
              <a:t>Dijagrami: Astah UML, Mermaid, ERDPlus</a:t>
            </a:r>
            <a:endParaRPr/>
          </a:p>
          <a:p>
            <a:pPr marL="486900" lvl="1" indent="-334137" algn="l" rtl="0">
              <a:spcBef>
                <a:spcPts val="700"/>
              </a:spcBef>
              <a:spcAft>
                <a:spcPts val="0"/>
              </a:spcAft>
              <a:buSzPct val="91999"/>
              <a:buChar char="◼"/>
            </a:pPr>
            <a:r>
              <a:rPr lang="en"/>
              <a:t>Tech stack: FastApi, Vue.js, PostgreSQL (neon.com), Hetzner VPS + Dokploy</a:t>
            </a:r>
            <a:endParaRPr/>
          </a:p>
          <a:p>
            <a:pPr marL="486900" lvl="1" indent="-334137" algn="l" rtl="0">
              <a:spcBef>
                <a:spcPts val="700"/>
              </a:spcBef>
              <a:spcAft>
                <a:spcPts val="0"/>
              </a:spcAft>
              <a:buSzPct val="91999"/>
              <a:buChar char="◼"/>
            </a:pPr>
            <a:r>
              <a:rPr lang="en"/>
              <a:t>Vanjske usluge: Google Gemini, SuperTokens, FCM, Cloudflare R2, Resend</a:t>
            </a:r>
            <a:endParaRPr/>
          </a:p>
          <a:p>
            <a:pPr marL="486899" lvl="1" indent="-334137" algn="l" rtl="0">
              <a:spcBef>
                <a:spcPts val="700"/>
              </a:spcBef>
              <a:spcAft>
                <a:spcPts val="0"/>
              </a:spcAft>
              <a:buSzPct val="91999"/>
              <a:buChar char="◼"/>
            </a:pPr>
            <a:r>
              <a:rPr lang="en"/>
              <a:t>Komunikacija: WhatsApp, Discord</a:t>
            </a:r>
            <a:endParaRPr/>
          </a:p>
          <a:p>
            <a:pPr marL="0" lvl="0" indent="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 sz="1300"/>
          </a:p>
        </p:txBody>
      </p:sp>
      <p:sp>
        <p:nvSpPr>
          <p:cNvPr id="253" name="Google Shape;253;p40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1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ORGANIZACIJA RADA</a:t>
            </a:r>
            <a:endParaRPr/>
          </a:p>
        </p:txBody>
      </p:sp>
      <p:sp>
        <p:nvSpPr>
          <p:cNvPr id="259" name="Google Shape;259;p41"/>
          <p:cNvSpPr txBox="1">
            <a:spLocks noGrp="1"/>
          </p:cNvSpPr>
          <p:nvPr>
            <p:ph type="body" idx="1"/>
          </p:nvPr>
        </p:nvSpPr>
        <p:spPr>
          <a:xfrm>
            <a:off x="-106800" y="1554050"/>
            <a:ext cx="9000000" cy="19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66700" lvl="0" indent="-234950" algn="ctr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1708"/>
              <a:buChar char="◼"/>
            </a:pPr>
            <a:r>
              <a:rPr lang="en" sz="1900"/>
              <a:t>Tablica raščlambe zadataka članova s procijenjenim naporom u satima </a:t>
            </a:r>
            <a:endParaRPr sz="1900"/>
          </a:p>
          <a:p>
            <a:pPr marL="486900" lvl="0" indent="0" algn="ctr" rtl="0">
              <a:spcBef>
                <a:spcPts val="700"/>
              </a:spcBef>
              <a:spcAft>
                <a:spcPts val="0"/>
              </a:spcAft>
              <a:buNone/>
            </a:pPr>
            <a:r>
              <a:rPr lang="en" sz="1400" i="1" u="sng">
                <a:solidFill>
                  <a:schemeClr val="hlink"/>
                </a:solidFill>
                <a:hlinkClick r:id="rId3"/>
              </a:rPr>
              <a:t>https://docs.google.com/spreadsheets/d/1Vfwp8n83O1gCEHi79AireHW30XPVMgX9Vx-R8o2vr5w/edit?usp=sharing</a:t>
            </a:r>
            <a:r>
              <a:rPr lang="en" sz="1400" i="1"/>
              <a:t> </a:t>
            </a:r>
            <a:endParaRPr sz="1400"/>
          </a:p>
          <a:p>
            <a:pPr marL="266700" lvl="0" indent="0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None/>
            </a:pPr>
            <a:endParaRPr/>
          </a:p>
          <a:p>
            <a:pPr marL="457200" lvl="1" indent="0" algn="l" rtl="0">
              <a:spcBef>
                <a:spcPts val="700"/>
              </a:spcBef>
              <a:spcAft>
                <a:spcPts val="0"/>
              </a:spcAft>
              <a:buSzPts val="1840"/>
              <a:buNone/>
            </a:pPr>
            <a:endParaRPr/>
          </a:p>
        </p:txBody>
      </p:sp>
      <p:sp>
        <p:nvSpPr>
          <p:cNvPr id="260" name="Google Shape;260;p41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2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3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66700" lvl="0" indent="-304292" algn="ctr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◼"/>
            </a:pPr>
            <a:r>
              <a:rPr lang="en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VREMENSKI OKVIR RAZVOJA </a:t>
            </a:r>
            <a:endParaRPr/>
          </a:p>
        </p:txBody>
      </p:sp>
      <p:pic>
        <p:nvPicPr>
          <p:cNvPr id="266" name="Google Shape;266;p42" title="Vremenski okvir razvoj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975" y="800725"/>
            <a:ext cx="7885161" cy="419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3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DEMONSTRACIJA APLIKACIJE</a:t>
            </a:r>
            <a:endParaRPr/>
          </a:p>
        </p:txBody>
      </p:sp>
      <p:sp>
        <p:nvSpPr>
          <p:cNvPr id="272" name="Google Shape;272;p43"/>
          <p:cNvSpPr txBox="1">
            <a:spLocks noGrp="1"/>
          </p:cNvSpPr>
          <p:nvPr>
            <p:ph type="body" idx="1"/>
          </p:nvPr>
        </p:nvSpPr>
        <p:spPr>
          <a:xfrm>
            <a:off x="2374775" y="3674725"/>
            <a:ext cx="41544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8690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" sz="2612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https://dailyspeak.app</a:t>
            </a:r>
            <a:endParaRPr sz="2612"/>
          </a:p>
          <a:p>
            <a:pPr marL="26670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688"/>
              <a:buNone/>
            </a:pPr>
            <a:endParaRPr sz="3300"/>
          </a:p>
        </p:txBody>
      </p:sp>
      <p:sp>
        <p:nvSpPr>
          <p:cNvPr id="273" name="Google Shape;273;p43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274" name="Google Shape;274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35638" y="1060497"/>
            <a:ext cx="2472724" cy="2472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4"/>
          <p:cNvSpPr txBox="1">
            <a:spLocks noGrp="1"/>
          </p:cNvSpPr>
          <p:nvPr>
            <p:ph type="title"/>
          </p:nvPr>
        </p:nvSpPr>
        <p:spPr>
          <a:xfrm>
            <a:off x="791999" y="27000"/>
            <a:ext cx="7920000" cy="6211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800"/>
              <a:buFont typeface="Franklin Gothic"/>
              <a:buNone/>
            </a:pPr>
            <a:r>
              <a:rPr lang="en"/>
              <a:t>ZAKLJUČAK</a:t>
            </a:r>
            <a:endParaRPr/>
          </a:p>
        </p:txBody>
      </p:sp>
      <p:sp>
        <p:nvSpPr>
          <p:cNvPr id="280" name="Google Shape;280;p44"/>
          <p:cNvSpPr txBox="1">
            <a:spLocks noGrp="1"/>
          </p:cNvSpPr>
          <p:nvPr>
            <p:ph type="body" idx="1"/>
          </p:nvPr>
        </p:nvSpPr>
        <p:spPr>
          <a:xfrm>
            <a:off x="71999" y="729000"/>
            <a:ext cx="9000000" cy="40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66700" lvl="0" indent="-2667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208"/>
              <a:buChar char="◼"/>
            </a:pPr>
            <a:r>
              <a:rPr lang="en"/>
              <a:t>Naučene lekcije</a:t>
            </a:r>
            <a:endParaRPr/>
          </a:p>
          <a:p>
            <a:pPr marL="486900" lvl="1" indent="-342900" algn="l" rtl="0">
              <a:spcBef>
                <a:spcPts val="700"/>
              </a:spcBef>
              <a:spcAft>
                <a:spcPts val="0"/>
              </a:spcAft>
              <a:buSzPts val="1840"/>
              <a:buChar char="◼"/>
            </a:pPr>
            <a:r>
              <a:rPr lang="en"/>
              <a:t>Dobra organizacija (tjedni sastanci, česta komunikacija, konkretna podjela zadataka, kolegijalnost…)</a:t>
            </a:r>
            <a:endParaRPr/>
          </a:p>
          <a:p>
            <a:pPr marL="486899" lvl="1" indent="-342900" algn="l" rtl="0">
              <a:spcBef>
                <a:spcPts val="700"/>
              </a:spcBef>
              <a:spcAft>
                <a:spcPts val="0"/>
              </a:spcAft>
              <a:buSzPts val="1840"/>
              <a:buChar char="◼"/>
            </a:pPr>
            <a:r>
              <a:rPr lang="en"/>
              <a:t>Rješavanja konflikata</a:t>
            </a:r>
            <a:endParaRPr/>
          </a:p>
          <a:p>
            <a:pPr marL="486899" lvl="1" indent="-226059" algn="l" rtl="0">
              <a:spcBef>
                <a:spcPts val="700"/>
              </a:spcBef>
              <a:spcAft>
                <a:spcPts val="0"/>
              </a:spcAft>
              <a:buSzPts val="1840"/>
              <a:buNone/>
            </a:pPr>
            <a:endParaRPr/>
          </a:p>
          <a:p>
            <a:pPr marL="266700" lvl="0" indent="-126492" algn="l" rtl="0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  <a:buSzPts val="2208"/>
              <a:buNone/>
            </a:pPr>
            <a:endParaRPr/>
          </a:p>
        </p:txBody>
      </p:sp>
      <p:sp>
        <p:nvSpPr>
          <p:cNvPr id="281" name="Google Shape;281;p44"/>
          <p:cNvSpPr txBox="1">
            <a:spLocks noGrp="1"/>
          </p:cNvSpPr>
          <p:nvPr>
            <p:ph type="sldNum" idx="12"/>
          </p:nvPr>
        </p:nvSpPr>
        <p:spPr>
          <a:xfrm>
            <a:off x="8549260" y="4875779"/>
            <a:ext cx="475056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videndVTI">
  <a:themeElements>
    <a:clrScheme name="Blue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14</Slides>
  <Notes>14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16" baseType="lpstr">
      <vt:lpstr>Simple Light</vt:lpstr>
      <vt:lpstr>DividendVTI</vt:lpstr>
      <vt:lpstr>DAILY SPEAK UP</vt:lpstr>
      <vt:lpstr>SADRŽAJ</vt:lpstr>
      <vt:lpstr>ČLANOVI GRUPE</vt:lpstr>
      <vt:lpstr>O PROJEKTU</vt:lpstr>
      <vt:lpstr>Postojeća slična rješenja</vt:lpstr>
      <vt:lpstr>PREGLED FUNKCIONALNIH ZAHTJEVA</vt:lpstr>
      <vt:lpstr>UML DIJAGRAM OBRAZACA UPORABE</vt:lpstr>
      <vt:lpstr>ARHITEKTURA SUSTAVA</vt:lpstr>
      <vt:lpstr>ISPITIVANJE</vt:lpstr>
      <vt:lpstr>KORIŠTENI ALATI I TEHNOLOGIJE</vt:lpstr>
      <vt:lpstr>ORGANIZACIJA RADA</vt:lpstr>
      <vt:lpstr>VREMENSKI OKVIR RAZVOJA </vt:lpstr>
      <vt:lpstr>DEMONSTRACIJA APLIKACIJE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modified xsi:type="dcterms:W3CDTF">2026-01-23T13:17:12Z</dcterms:modified>
</cp:coreProperties>
</file>